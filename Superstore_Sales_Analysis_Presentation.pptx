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62A4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201168" cy="6858000"/>
          </a:xfrm>
          <a:prstGeom prst="rect">
            <a:avLst/>
          </a:prstGeom>
          <a:solidFill>
            <a:srgbClr val="00919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822960" y="1325880"/>
            <a:ext cx="10607040" cy="1371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800" b="1">
                <a:solidFill>
                  <a:srgbClr val="FFFFFF"/>
                </a:solidFill>
                <a:latin typeface="Aptos Display"/>
              </a:defRPr>
            </a:pPr>
            <a:r>
              <a:t>SUPERSTORE SALES</a:t>
            </a:r>
            <a:br/>
            <a:r>
              <a:t>ANALYSIS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68680" y="3657600"/>
            <a:ext cx="987552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>
                <a:solidFill>
                  <a:srgbClr val="BEDCE6"/>
                </a:solidFill>
                <a:latin typeface="Aptos"/>
              </a:defRPr>
            </a:pPr>
            <a:r>
              <a:t>Week 6 Final Data Analytics Project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68680" y="4709160"/>
            <a:ext cx="987552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800">
                <a:solidFill>
                  <a:srgbClr val="FFFFFF"/>
                </a:solidFill>
                <a:latin typeface="Aptos"/>
              </a:defRPr>
            </a:pPr>
            <a:r>
              <a:t>Presented by: Yamuna Sree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68680" y="5715000"/>
            <a:ext cx="987552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 b="1">
                <a:solidFill>
                  <a:srgbClr val="BEDCE6"/>
                </a:solidFill>
                <a:latin typeface="Aptos"/>
              </a:defRPr>
            </a:pPr>
            <a:r>
              <a:t>PYTHON  |  DATA EXPLORATION  |  POWER BI  |  GITHUB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02920" y="6519672"/>
            <a:ext cx="11155680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00">
                <a:solidFill>
                  <a:srgbClr val="64707D"/>
                </a:solidFill>
                <a:latin typeface="Aptos"/>
              </a:defRPr>
            </a:pPr>
            <a:r>
              <a:t>SUPERSTORE SALES ANALYSIS  •  WEEK 6 FINAL DATA ANALYTICS PROJECT                                      01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2F6F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143000"/>
          </a:xfrm>
          <a:prstGeom prst="rect">
            <a:avLst/>
          </a:prstGeom>
          <a:solidFill>
            <a:srgbClr val="162A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182880"/>
            <a:ext cx="11064240" cy="5029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700" b="1">
                <a:solidFill>
                  <a:srgbClr val="FFFFFF"/>
                </a:solidFill>
                <a:latin typeface="Aptos Display"/>
              </a:defRPr>
            </a:pPr>
            <a:r>
              <a:t>1. Project Overview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94360" y="713232"/>
            <a:ext cx="109728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100">
                <a:solidFill>
                  <a:srgbClr val="D2DEEE"/>
                </a:solidFill>
                <a:latin typeface="Aptos"/>
              </a:defRPr>
            </a:pPr>
            <a:r>
              <a:t>What the project investigates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1508760"/>
            <a:ext cx="10607040" cy="4480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400"/>
              </a:spcAft>
              <a:defRPr sz="2100">
                <a:solidFill>
                  <a:srgbClr val="28313C"/>
                </a:solidFill>
                <a:latin typeface="Aptos"/>
              </a:defRPr>
            </a:pPr>
            <a:r>
              <a:t>Analyze Superstore retail sales data to understand business performance.</a:t>
            </a:r>
          </a:p>
          <a:p>
            <a:pPr>
              <a:spcAft>
                <a:spcPts val="1400"/>
              </a:spcAft>
              <a:defRPr sz="2100">
                <a:solidFill>
                  <a:srgbClr val="28313C"/>
                </a:solidFill>
                <a:latin typeface="Aptos"/>
              </a:defRPr>
            </a:pPr>
            <a:r>
              <a:t>Compare sales and profit across product categories, sub-categories, regions, and customer segments.</a:t>
            </a:r>
          </a:p>
          <a:p>
            <a:pPr>
              <a:spcAft>
                <a:spcPts val="1400"/>
              </a:spcAft>
              <a:defRPr sz="2100">
                <a:solidFill>
                  <a:srgbClr val="28313C"/>
                </a:solidFill>
                <a:latin typeface="Aptos"/>
              </a:defRPr>
            </a:pPr>
            <a:r>
              <a:t>Explore monthly trends and discount patterns.</a:t>
            </a:r>
          </a:p>
          <a:p>
            <a:pPr>
              <a:spcAft>
                <a:spcPts val="1400"/>
              </a:spcAft>
              <a:defRPr sz="2100">
                <a:solidFill>
                  <a:srgbClr val="28313C"/>
                </a:solidFill>
                <a:latin typeface="Aptos"/>
              </a:defRPr>
            </a:pPr>
            <a:r>
              <a:t>Communicate findings through Python visualizations and an interactive Power BI dashboard.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02920" y="6519672"/>
            <a:ext cx="11155680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00">
                <a:solidFill>
                  <a:srgbClr val="64707D"/>
                </a:solidFill>
                <a:latin typeface="Aptos"/>
              </a:defRPr>
            </a:pPr>
            <a:r>
              <a:t>SUPERSTORE SALES ANALYSIS  •  WEEK 6 FINAL DATA ANALYTICS PROJECT                                      02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2F6F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143000"/>
          </a:xfrm>
          <a:prstGeom prst="rect">
            <a:avLst/>
          </a:prstGeom>
          <a:solidFill>
            <a:srgbClr val="162A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182880"/>
            <a:ext cx="11064240" cy="5029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700" b="1">
                <a:solidFill>
                  <a:srgbClr val="FFFFFF"/>
                </a:solidFill>
                <a:latin typeface="Aptos Display"/>
              </a:defRPr>
            </a:pPr>
            <a:r>
              <a:t>2. Problem Statement &amp; Objectives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77240" y="1508760"/>
            <a:ext cx="10607040" cy="4480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400"/>
              </a:spcAft>
              <a:defRPr sz="2000">
                <a:solidFill>
                  <a:srgbClr val="28313C"/>
                </a:solidFill>
                <a:latin typeface="Aptos"/>
              </a:defRPr>
            </a:pPr>
            <a:r>
              <a:t>Business question: Which products and regions generate sales and profit, and where are losses occurring?</a:t>
            </a:r>
          </a:p>
          <a:p>
            <a:pPr>
              <a:spcAft>
                <a:spcPts val="1400"/>
              </a:spcAft>
              <a:defRPr sz="2000">
                <a:solidFill>
                  <a:srgbClr val="28313C"/>
                </a:solidFill>
                <a:latin typeface="Aptos"/>
              </a:defRPr>
            </a:pPr>
            <a:r>
              <a:t>Prepare reliable data by inspecting columns, data types, missing values, and records.</a:t>
            </a:r>
          </a:p>
          <a:p>
            <a:pPr>
              <a:spcAft>
                <a:spcPts val="1400"/>
              </a:spcAft>
              <a:defRPr sz="2000">
                <a:solidFill>
                  <a:srgbClr val="28313C"/>
                </a:solidFill>
                <a:latin typeface="Aptos"/>
              </a:defRPr>
            </a:pPr>
            <a:r>
              <a:t>Use exploratory data analysis (EDA) to find patterns, trends, and possible discount-profit relationships.</a:t>
            </a:r>
          </a:p>
          <a:p>
            <a:pPr>
              <a:spcAft>
                <a:spcPts val="1400"/>
              </a:spcAft>
              <a:defRPr sz="2000">
                <a:solidFill>
                  <a:srgbClr val="28313C"/>
                </a:solidFill>
                <a:latin typeface="Aptos"/>
              </a:defRPr>
            </a:pPr>
            <a:r>
              <a:t>Provide practical recommendations to support pricing and performance decisions.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" y="6519672"/>
            <a:ext cx="11155680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00">
                <a:solidFill>
                  <a:srgbClr val="64707D"/>
                </a:solidFill>
                <a:latin typeface="Aptos"/>
              </a:defRPr>
            </a:pPr>
            <a:r>
              <a:t>SUPERSTORE SALES ANALYSIS  •  WEEK 6 FINAL DATA ANALYTICS PROJECT                                      03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2F6F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143000"/>
          </a:xfrm>
          <a:prstGeom prst="rect">
            <a:avLst/>
          </a:prstGeom>
          <a:solidFill>
            <a:srgbClr val="162A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182880"/>
            <a:ext cx="11064240" cy="5029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700" b="1">
                <a:solidFill>
                  <a:srgbClr val="FFFFFF"/>
                </a:solidFill>
                <a:latin typeface="Aptos Display"/>
              </a:defRPr>
            </a:pPr>
            <a:r>
              <a:t>3. Dataset &amp; Data Preparation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731520" y="1600200"/>
            <a:ext cx="3383280" cy="1417320"/>
          </a:xfrm>
          <a:prstGeom prst="roundRect">
            <a:avLst/>
          </a:prstGeom>
          <a:solidFill>
            <a:srgbClr val="FFFFFF"/>
          </a:solidFill>
          <a:ln>
            <a:solidFill>
              <a:srgbClr val="DCE4E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731520" y="1600200"/>
            <a:ext cx="109728" cy="1417320"/>
          </a:xfrm>
          <a:prstGeom prst="rect">
            <a:avLst/>
          </a:prstGeom>
          <a:solidFill>
            <a:srgbClr val="2C69A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960120" y="1828800"/>
            <a:ext cx="301752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100" b="1">
                <a:solidFill>
                  <a:srgbClr val="64707D"/>
                </a:solidFill>
                <a:latin typeface="Aptos"/>
              </a:defRPr>
            </a:pPr>
            <a:r>
              <a:t>ORIGINAL RECORDS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60120" y="2258568"/>
            <a:ext cx="301752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162A4A"/>
                </a:solidFill>
                <a:latin typeface="Aptos Display"/>
              </a:defRPr>
            </a:pPr>
            <a:r>
              <a:t>10,800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4389120" y="1600200"/>
            <a:ext cx="3383280" cy="1417320"/>
          </a:xfrm>
          <a:prstGeom prst="roundRect">
            <a:avLst/>
          </a:prstGeom>
          <a:solidFill>
            <a:srgbClr val="FFFFFF"/>
          </a:solidFill>
          <a:ln>
            <a:solidFill>
              <a:srgbClr val="DCE4E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4389120" y="1600200"/>
            <a:ext cx="109728" cy="1417320"/>
          </a:xfrm>
          <a:prstGeom prst="rect">
            <a:avLst/>
          </a:prstGeom>
          <a:solidFill>
            <a:srgbClr val="00919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4617720" y="1828800"/>
            <a:ext cx="301752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100" b="1">
                <a:solidFill>
                  <a:srgbClr val="64707D"/>
                </a:solidFill>
                <a:latin typeface="Aptos"/>
              </a:defRPr>
            </a:pPr>
            <a:r>
              <a:t>CLEANED RECORDS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617720" y="2258568"/>
            <a:ext cx="301752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162A4A"/>
                </a:solidFill>
                <a:latin typeface="Aptos Display"/>
              </a:defRPr>
            </a:pPr>
            <a:r>
              <a:t>9,994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8046720" y="1600200"/>
            <a:ext cx="3383280" cy="1417320"/>
          </a:xfrm>
          <a:prstGeom prst="roundRect">
            <a:avLst/>
          </a:prstGeom>
          <a:solidFill>
            <a:srgbClr val="FFFFFF"/>
          </a:solidFill>
          <a:ln>
            <a:solidFill>
              <a:srgbClr val="DCE4E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8046720" y="1600200"/>
            <a:ext cx="109728" cy="1417320"/>
          </a:xfrm>
          <a:prstGeom prst="rect">
            <a:avLst/>
          </a:prstGeom>
          <a:solidFill>
            <a:srgbClr val="D68B2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8275320" y="1828800"/>
            <a:ext cx="301752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100" b="1">
                <a:solidFill>
                  <a:srgbClr val="64707D"/>
                </a:solidFill>
                <a:latin typeface="Aptos"/>
              </a:defRPr>
            </a:pPr>
            <a:r>
              <a:t>MISSING POSTAL CODES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275320" y="2258568"/>
            <a:ext cx="301752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162A4A"/>
                </a:solidFill>
                <a:latin typeface="Aptos Display"/>
              </a:defRPr>
            </a:pPr>
            <a:r>
              <a:t>11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22960" y="3429000"/>
            <a:ext cx="10698480" cy="23774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400"/>
              </a:spcAft>
              <a:defRPr sz="1700">
                <a:solidFill>
                  <a:srgbClr val="28313C"/>
                </a:solidFill>
                <a:latin typeface="Aptos"/>
              </a:defRPr>
            </a:pPr>
            <a:r>
              <a:t>Dataset fields include order dates, product categories, customer segments, regions, sales, discounts, and profit.</a:t>
            </a:r>
          </a:p>
          <a:p>
            <a:pPr>
              <a:spcAft>
                <a:spcPts val="1400"/>
              </a:spcAft>
              <a:defRPr sz="1700">
                <a:solidFill>
                  <a:srgbClr val="28313C"/>
                </a:solidFill>
                <a:latin typeface="Aptos"/>
              </a:defRPr>
            </a:pPr>
            <a:r>
              <a:t>Rows without Order Date were removed; date and numeric columns were converted to suitable data types.</a:t>
            </a:r>
          </a:p>
          <a:p>
            <a:pPr>
              <a:spcAft>
                <a:spcPts val="1400"/>
              </a:spcAft>
              <a:defRPr sz="1700">
                <a:solidFill>
                  <a:srgbClr val="28313C"/>
                </a:solidFill>
                <a:latin typeface="Aptos"/>
              </a:defRPr>
            </a:pPr>
            <a:r>
              <a:t>The cleaned dataset was saved as superstore_cleaned.csv.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502920" y="6519672"/>
            <a:ext cx="11155680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00">
                <a:solidFill>
                  <a:srgbClr val="64707D"/>
                </a:solidFill>
                <a:latin typeface="Aptos"/>
              </a:defRPr>
            </a:pPr>
            <a:r>
              <a:t>SUPERSTORE SALES ANALYSIS  •  WEEK 6 FINAL DATA ANALYTICS PROJECT                                      04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2F6F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143000"/>
          </a:xfrm>
          <a:prstGeom prst="rect">
            <a:avLst/>
          </a:prstGeom>
          <a:solidFill>
            <a:srgbClr val="162A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182880"/>
            <a:ext cx="11064240" cy="5029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700" b="1">
                <a:solidFill>
                  <a:srgbClr val="FFFFFF"/>
                </a:solidFill>
                <a:latin typeface="Aptos Display"/>
              </a:defRPr>
            </a:pPr>
            <a:r>
              <a:t>4. Key Performance Indicators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94360" y="713232"/>
            <a:ext cx="109728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100">
                <a:solidFill>
                  <a:srgbClr val="D2DEEE"/>
                </a:solidFill>
                <a:latin typeface="Aptos"/>
              </a:defRPr>
            </a:pPr>
            <a:r>
              <a:t>Overall results from the cleaned dataset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31520" y="1828800"/>
            <a:ext cx="3474720" cy="1508760"/>
          </a:xfrm>
          <a:prstGeom prst="roundRect">
            <a:avLst/>
          </a:prstGeom>
          <a:solidFill>
            <a:srgbClr val="FFFFFF"/>
          </a:solidFill>
          <a:ln>
            <a:solidFill>
              <a:srgbClr val="DCE4E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731520" y="1828800"/>
            <a:ext cx="109728" cy="1508760"/>
          </a:xfrm>
          <a:prstGeom prst="rect">
            <a:avLst/>
          </a:prstGeom>
          <a:solidFill>
            <a:srgbClr val="2C69A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60120" y="2057400"/>
            <a:ext cx="310896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100" b="1">
                <a:solidFill>
                  <a:srgbClr val="64707D"/>
                </a:solidFill>
                <a:latin typeface="Aptos"/>
              </a:defRPr>
            </a:pPr>
            <a:r>
              <a:t>TOTAL SALES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60120" y="2487168"/>
            <a:ext cx="310896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162A4A"/>
                </a:solidFill>
                <a:latin typeface="Aptos Display"/>
              </a:defRPr>
            </a:pPr>
            <a:r>
              <a:t>$2,297,200.86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4389120" y="1828800"/>
            <a:ext cx="3474720" cy="1508760"/>
          </a:xfrm>
          <a:prstGeom prst="roundRect">
            <a:avLst/>
          </a:prstGeom>
          <a:solidFill>
            <a:srgbClr val="FFFFFF"/>
          </a:solidFill>
          <a:ln>
            <a:solidFill>
              <a:srgbClr val="DCE4E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4389120" y="1828800"/>
            <a:ext cx="109728" cy="1508760"/>
          </a:xfrm>
          <a:prstGeom prst="rect">
            <a:avLst/>
          </a:prstGeom>
          <a:solidFill>
            <a:srgbClr val="00919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4617720" y="2057400"/>
            <a:ext cx="310896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100" b="1">
                <a:solidFill>
                  <a:srgbClr val="64707D"/>
                </a:solidFill>
                <a:latin typeface="Aptos"/>
              </a:defRPr>
            </a:pPr>
            <a:r>
              <a:t>TOTAL PROFIT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617720" y="2487168"/>
            <a:ext cx="310896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162A4A"/>
                </a:solidFill>
                <a:latin typeface="Aptos Display"/>
              </a:defRPr>
            </a:pPr>
            <a:r>
              <a:t>$286,397.02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8046720" y="1828800"/>
            <a:ext cx="3474720" cy="1508760"/>
          </a:xfrm>
          <a:prstGeom prst="roundRect">
            <a:avLst/>
          </a:prstGeom>
          <a:solidFill>
            <a:srgbClr val="FFFFFF"/>
          </a:solidFill>
          <a:ln>
            <a:solidFill>
              <a:srgbClr val="DCE4E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8046720" y="1828800"/>
            <a:ext cx="109728" cy="1508760"/>
          </a:xfrm>
          <a:prstGeom prst="rect">
            <a:avLst/>
          </a:prstGeom>
          <a:solidFill>
            <a:srgbClr val="D68B2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8275320" y="2057400"/>
            <a:ext cx="310896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100" b="1">
                <a:solidFill>
                  <a:srgbClr val="64707D"/>
                </a:solidFill>
                <a:latin typeface="Aptos"/>
              </a:defRPr>
            </a:pPr>
            <a:r>
              <a:t>TOTAL ORDERS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275320" y="2487168"/>
            <a:ext cx="310896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162A4A"/>
                </a:solidFill>
                <a:latin typeface="Aptos Display"/>
              </a:defRPr>
            </a:pPr>
            <a:r>
              <a:t>5,009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914400" y="4069080"/>
            <a:ext cx="10332720" cy="1463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400"/>
              </a:spcAft>
              <a:defRPr sz="2100">
                <a:solidFill>
                  <a:srgbClr val="28313C"/>
                </a:solidFill>
                <a:latin typeface="Aptos"/>
              </a:defRPr>
            </a:pPr>
            <a:r>
              <a:t>Average discount: 15.62%</a:t>
            </a:r>
          </a:p>
          <a:p>
            <a:pPr>
              <a:spcAft>
                <a:spcPts val="1400"/>
              </a:spcAft>
              <a:defRPr sz="2100">
                <a:solidFill>
                  <a:srgbClr val="28313C"/>
                </a:solidFill>
                <a:latin typeface="Aptos"/>
              </a:defRPr>
            </a:pPr>
            <a:r>
              <a:t>These KPIs provide a high-level view of sales volume and profitability.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502920" y="6519672"/>
            <a:ext cx="11155680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00">
                <a:solidFill>
                  <a:srgbClr val="64707D"/>
                </a:solidFill>
                <a:latin typeface="Aptos"/>
              </a:defRPr>
            </a:pPr>
            <a:r>
              <a:t>SUPERSTORE SALES ANALYSIS  •  WEEK 6 FINAL DATA ANALYTICS PROJECT                                      05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2F6F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143000"/>
          </a:xfrm>
          <a:prstGeom prst="rect">
            <a:avLst/>
          </a:prstGeom>
          <a:solidFill>
            <a:srgbClr val="162A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182880"/>
            <a:ext cx="11064240" cy="5029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700" b="1">
                <a:solidFill>
                  <a:srgbClr val="FFFFFF"/>
                </a:solidFill>
                <a:latin typeface="Aptos Display"/>
              </a:defRPr>
            </a:pPr>
            <a:r>
              <a:t>5. Exploratory Data Analysis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94360" y="713232"/>
            <a:ext cx="109728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100">
                <a:solidFill>
                  <a:srgbClr val="D2DEEE"/>
                </a:solidFill>
                <a:latin typeface="Aptos"/>
              </a:defRPr>
            </a:pPr>
            <a:r>
              <a:t>Main patterns identified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1508760"/>
            <a:ext cx="10607040" cy="4480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400"/>
              </a:spcAft>
              <a:defRPr sz="1900">
                <a:solidFill>
                  <a:srgbClr val="28313C"/>
                </a:solidFill>
                <a:latin typeface="Aptos"/>
              </a:defRPr>
            </a:pPr>
            <a:r>
              <a:t>Technology generated the highest sales and profit among the three main categories.</a:t>
            </a:r>
          </a:p>
          <a:p>
            <a:pPr>
              <a:spcAft>
                <a:spcPts val="1400"/>
              </a:spcAft>
              <a:defRPr sz="1900">
                <a:solidFill>
                  <a:srgbClr val="28313C"/>
                </a:solidFill>
                <a:latin typeface="Aptos"/>
              </a:defRPr>
            </a:pPr>
            <a:r>
              <a:t>The West region led in sales and profit.</a:t>
            </a:r>
          </a:p>
          <a:p>
            <a:pPr>
              <a:spcAft>
                <a:spcPts val="1400"/>
              </a:spcAft>
              <a:defRPr sz="1900">
                <a:solidFill>
                  <a:srgbClr val="28313C"/>
                </a:solidFill>
                <a:latin typeface="Aptos"/>
              </a:defRPr>
            </a:pPr>
            <a:r>
              <a:t>Phones was the top sub-category by sales.</a:t>
            </a:r>
          </a:p>
          <a:p>
            <a:pPr>
              <a:spcAft>
                <a:spcPts val="1400"/>
              </a:spcAft>
              <a:defRPr sz="1900">
                <a:solidFill>
                  <a:srgbClr val="28313C"/>
                </a:solidFill>
                <a:latin typeface="Aptos"/>
              </a:defRPr>
            </a:pPr>
            <a:r>
              <a:t>Tables was the largest loss-making sub-category.</a:t>
            </a:r>
          </a:p>
          <a:p>
            <a:pPr>
              <a:spcAft>
                <a:spcPts val="1400"/>
              </a:spcAft>
              <a:defRPr sz="1900">
                <a:solidFill>
                  <a:srgbClr val="28313C"/>
                </a:solidFill>
                <a:latin typeface="Aptos"/>
              </a:defRPr>
            </a:pPr>
            <a:r>
              <a:t>Discount versus profit was explored to investigate potential profitability risks.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02920" y="6519672"/>
            <a:ext cx="11155680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00">
                <a:solidFill>
                  <a:srgbClr val="64707D"/>
                </a:solidFill>
                <a:latin typeface="Aptos"/>
              </a:defRPr>
            </a:pPr>
            <a:r>
              <a:t>SUPERSTORE SALES ANALYSIS  •  WEEK 6 FINAL DATA ANALYTICS PROJECT                                      06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2F6F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143000"/>
          </a:xfrm>
          <a:prstGeom prst="rect">
            <a:avLst/>
          </a:prstGeom>
          <a:solidFill>
            <a:srgbClr val="162A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182880"/>
            <a:ext cx="11064240" cy="5029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700" b="1">
                <a:solidFill>
                  <a:srgbClr val="FFFFFF"/>
                </a:solidFill>
                <a:latin typeface="Aptos Display"/>
              </a:defRPr>
            </a:pPr>
            <a:r>
              <a:t>6. Visualizations &amp; Power BI Dashboard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77240" y="1508760"/>
            <a:ext cx="10607040" cy="4480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400"/>
              </a:spcAft>
              <a:defRPr sz="1800">
                <a:solidFill>
                  <a:srgbClr val="28313C"/>
                </a:solidFill>
                <a:latin typeface="Aptos"/>
              </a:defRPr>
            </a:pPr>
            <a:r>
              <a:t>Python charts: sales and profit by category/region, sales by segment, monthly sales trend, sub-category profit, discount vs. profit, and top sub-categories.</a:t>
            </a:r>
          </a:p>
          <a:p>
            <a:pPr>
              <a:spcAft>
                <a:spcPts val="1400"/>
              </a:spcAft>
              <a:defRPr sz="1800">
                <a:solidFill>
                  <a:srgbClr val="28313C"/>
                </a:solidFill>
                <a:latin typeface="Aptos"/>
              </a:defRPr>
            </a:pPr>
            <a:r>
              <a:t>Power BI KPI cards: Total Sales, Total Profit, and Total Orders.</a:t>
            </a:r>
          </a:p>
          <a:p>
            <a:pPr>
              <a:spcAft>
                <a:spcPts val="1400"/>
              </a:spcAft>
              <a:defRPr sz="1800">
                <a:solidFill>
                  <a:srgbClr val="28313C"/>
                </a:solidFill>
                <a:latin typeface="Aptos"/>
              </a:defRPr>
            </a:pPr>
            <a:r>
              <a:t>Dashboard visuals: Sales by Category, Sales by Region, Profit by Category, Sales Contribution by Category, and Sales Trend Over Time.</a:t>
            </a:r>
          </a:p>
          <a:p>
            <a:pPr>
              <a:spcAft>
                <a:spcPts val="1400"/>
              </a:spcAft>
              <a:defRPr sz="1800">
                <a:solidFill>
                  <a:srgbClr val="28313C"/>
                </a:solidFill>
                <a:latin typeface="Aptos"/>
              </a:defRPr>
            </a:pPr>
            <a:r>
              <a:t>Slicers: Category and Order Date.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" y="6519672"/>
            <a:ext cx="11155680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00">
                <a:solidFill>
                  <a:srgbClr val="64707D"/>
                </a:solidFill>
                <a:latin typeface="Aptos"/>
              </a:defRPr>
            </a:pPr>
            <a:r>
              <a:t>SUPERSTORE SALES ANALYSIS  •  WEEK 6 FINAL DATA ANALYTICS PROJECT                                      07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2F6F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143000"/>
          </a:xfrm>
          <a:prstGeom prst="rect">
            <a:avLst/>
          </a:prstGeom>
          <a:solidFill>
            <a:srgbClr val="162A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182880"/>
            <a:ext cx="11064240" cy="5029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700" b="1">
                <a:solidFill>
                  <a:srgbClr val="FFFFFF"/>
                </a:solidFill>
                <a:latin typeface="Aptos Display"/>
              </a:defRPr>
            </a:pPr>
            <a:r>
              <a:t>7. Business Insights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77240" y="1508760"/>
            <a:ext cx="10607040" cy="4480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400"/>
              </a:spcAft>
              <a:defRPr sz="2000">
                <a:solidFill>
                  <a:srgbClr val="28313C"/>
                </a:solidFill>
                <a:latin typeface="Aptos"/>
              </a:defRPr>
            </a:pPr>
            <a:r>
              <a:t>Technology is the leading category by sales and profit.</a:t>
            </a:r>
          </a:p>
          <a:p>
            <a:pPr>
              <a:spcAft>
                <a:spcPts val="1400"/>
              </a:spcAft>
              <a:defRPr sz="2000">
                <a:solidFill>
                  <a:srgbClr val="28313C"/>
                </a:solidFill>
                <a:latin typeface="Aptos"/>
              </a:defRPr>
            </a:pPr>
            <a:r>
              <a:t>The West region is the strongest region in the analysis.</a:t>
            </a:r>
          </a:p>
          <a:p>
            <a:pPr>
              <a:spcAft>
                <a:spcPts val="1400"/>
              </a:spcAft>
              <a:defRPr sz="2000">
                <a:solidFill>
                  <a:srgbClr val="28313C"/>
                </a:solidFill>
                <a:latin typeface="Aptos"/>
              </a:defRPr>
            </a:pPr>
            <a:r>
              <a:t>Phones contributes the highest sub-category sales.</a:t>
            </a:r>
          </a:p>
          <a:p>
            <a:pPr>
              <a:spcAft>
                <a:spcPts val="1400"/>
              </a:spcAft>
              <a:defRPr sz="2000">
                <a:solidFill>
                  <a:srgbClr val="28313C"/>
                </a:solidFill>
                <a:latin typeface="Aptos"/>
              </a:defRPr>
            </a:pPr>
            <a:r>
              <a:t>Tables is a priority area for loss investigation.</a:t>
            </a:r>
          </a:p>
          <a:p>
            <a:pPr>
              <a:spcAft>
                <a:spcPts val="1400"/>
              </a:spcAft>
              <a:defRPr sz="2000">
                <a:solidFill>
                  <a:srgbClr val="28313C"/>
                </a:solidFill>
                <a:latin typeface="Aptos"/>
              </a:defRPr>
            </a:pPr>
            <a:r>
              <a:t>Discount levels should be monitored alongside profit to avoid margin erosion.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" y="6519672"/>
            <a:ext cx="11155680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00">
                <a:solidFill>
                  <a:srgbClr val="64707D"/>
                </a:solidFill>
                <a:latin typeface="Aptos"/>
              </a:defRPr>
            </a:pPr>
            <a:r>
              <a:t>SUPERSTORE SALES ANALYSIS  •  WEEK 6 FINAL DATA ANALYTICS PROJECT                                      08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2F6F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143000"/>
          </a:xfrm>
          <a:prstGeom prst="rect">
            <a:avLst/>
          </a:prstGeom>
          <a:solidFill>
            <a:srgbClr val="162A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182880"/>
            <a:ext cx="11064240" cy="5029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700" b="1">
                <a:solidFill>
                  <a:srgbClr val="FFFFFF"/>
                </a:solidFill>
                <a:latin typeface="Aptos Display"/>
              </a:defRPr>
            </a:pPr>
            <a:r>
              <a:t>8. Recommendations &amp; Conclusion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77240" y="1508760"/>
            <a:ext cx="10607040" cy="4480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400"/>
              </a:spcAft>
              <a:defRPr sz="1800">
                <a:solidFill>
                  <a:srgbClr val="28313C"/>
                </a:solidFill>
                <a:latin typeface="Aptos"/>
              </a:defRPr>
            </a:pPr>
            <a:r>
              <a:t>Review pricing, costs, and discount policies for Tables, Bookcases, and Supplies.</a:t>
            </a:r>
          </a:p>
          <a:p>
            <a:pPr>
              <a:spcAft>
                <a:spcPts val="1400"/>
              </a:spcAft>
              <a:defRPr sz="1800">
                <a:solidFill>
                  <a:srgbClr val="28313C"/>
                </a:solidFill>
                <a:latin typeface="Aptos"/>
              </a:defRPr>
            </a:pPr>
            <a:r>
              <a:t>Investigate high-discount transactions and monitor their profitability.</a:t>
            </a:r>
          </a:p>
          <a:p>
            <a:pPr>
              <a:spcAft>
                <a:spcPts val="1400"/>
              </a:spcAft>
              <a:defRPr sz="1800">
                <a:solidFill>
                  <a:srgbClr val="28313C"/>
                </a:solidFill>
                <a:latin typeface="Aptos"/>
              </a:defRPr>
            </a:pPr>
            <a:r>
              <a:t>Study successful Technology products and the West region to identify repeatable practices.</a:t>
            </a:r>
          </a:p>
          <a:p>
            <a:pPr>
              <a:spcAft>
                <a:spcPts val="1400"/>
              </a:spcAft>
              <a:defRPr sz="1800">
                <a:solidFill>
                  <a:srgbClr val="28313C"/>
                </a:solidFill>
                <a:latin typeface="Aptos"/>
              </a:defRPr>
            </a:pPr>
            <a:r>
              <a:t>Use monthly sales and regional profit monitoring to support ongoing decisions.</a:t>
            </a:r>
          </a:p>
          <a:p>
            <a:pPr>
              <a:spcAft>
                <a:spcPts val="1400"/>
              </a:spcAft>
              <a:defRPr sz="1800">
                <a:solidFill>
                  <a:srgbClr val="28313C"/>
                </a:solidFill>
                <a:latin typeface="Aptos"/>
              </a:defRPr>
            </a:pPr>
            <a:r>
              <a:t>Conclusion: Python, visualization, Power BI, and GitHub combine to deliver a documented, reproducible analysis.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" y="6519672"/>
            <a:ext cx="11155680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00">
                <a:solidFill>
                  <a:srgbClr val="64707D"/>
                </a:solidFill>
                <a:latin typeface="Aptos"/>
              </a:defRPr>
            </a:pPr>
            <a:r>
              <a:t>SUPERSTORE SALES ANALYSIS  •  WEEK 6 FINAL DATA ANALYTICS PROJECT                                      09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62A4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822960" y="1554480"/>
            <a:ext cx="105156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4200" b="1">
                <a:solidFill>
                  <a:srgbClr val="FFFFFF"/>
                </a:solidFill>
                <a:latin typeface="Aptos Display"/>
              </a:defRPr>
            </a:pPr>
            <a:r>
              <a:t>THANK YOU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868680" y="2743200"/>
            <a:ext cx="10332720" cy="10058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300">
                <a:solidFill>
                  <a:srgbClr val="BEDCE6"/>
                </a:solidFill>
                <a:latin typeface="Aptos"/>
              </a:defRPr>
            </a:pPr>
            <a:r>
              <a:t>Superstore Sales Analysis</a:t>
            </a:r>
            <a:br/>
            <a:r>
              <a:t>Yamuna Sree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6519672"/>
            <a:ext cx="11155680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00">
                <a:solidFill>
                  <a:srgbClr val="64707D"/>
                </a:solidFill>
                <a:latin typeface="Aptos"/>
              </a:defRPr>
            </a:pPr>
            <a:r>
              <a:t>SUPERSTORE SALES ANALYSIS  •  WEEK 6 FINAL DATA ANALYTICS PROJECT                                      10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